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REVENUE RECOVERY · RAZORPAY AI BUILDATHON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Sentinel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Payment Incident Commander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payment failures. Understand the cause. Recover revenue safely.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396414" cy="868680"/>
          </a:xfrm>
          <a:prstGeom prst="roundRect">
            <a:avLst>
              <a:gd name="adj" fmla="val 8421"/>
            </a:avLst>
          </a:prstGeom>
          <a:solidFill>
            <a:srgbClr val="121822"/>
          </a:solidFill>
          <a:ln w="12700">
            <a:solidFill>
              <a:srgbClr val="C970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77640"/>
            <a:ext cx="23964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806" y="4411980"/>
            <a:ext cx="265176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39414" y="3977640"/>
            <a:ext cx="2396414" cy="868680"/>
          </a:xfrm>
          <a:prstGeom prst="roundRect">
            <a:avLst>
              <a:gd name="adj" fmla="val 8421"/>
            </a:avLst>
          </a:prstGeom>
          <a:solidFill>
            <a:srgbClr val="121822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9414" y="3977640"/>
            <a:ext cx="23964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63260" y="4411980"/>
            <a:ext cx="265176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55868" y="3977640"/>
            <a:ext cx="2396414" cy="868680"/>
          </a:xfrm>
          <a:prstGeom prst="roundRect">
            <a:avLst>
              <a:gd name="adj" fmla="val 8421"/>
            </a:avLst>
          </a:prstGeom>
          <a:solidFill>
            <a:srgbClr val="121822"/>
          </a:solidFill>
          <a:ln w="12700">
            <a:solidFill>
              <a:srgbClr val="00D9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5868" y="3977640"/>
            <a:ext cx="23964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Recovery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79713" y="4411980"/>
            <a:ext cx="265176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72321" y="3977640"/>
            <a:ext cx="2396414" cy="868680"/>
          </a:xfrm>
          <a:prstGeom prst="roundRect">
            <a:avLst>
              <a:gd name="adj" fmla="val 8421"/>
            </a:avLst>
          </a:prstGeom>
          <a:solidFill>
            <a:srgbClr val="0A3B33"/>
          </a:solidFill>
          <a:ln w="12700">
            <a:solidFill>
              <a:srgbClr val="00D9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72321" y="3977640"/>
            <a:ext cx="23964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Revenue Recovery  •  Razorpay AI Buildathon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Failures Are Revenue Events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5304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64792"/>
            <a:ext cx="457200" cy="45720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degradation can remain hidden inside normal transaction noise.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6824" y="1508760"/>
            <a:ext cx="3575304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2856" y="1764792"/>
            <a:ext cx="457200" cy="45720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2856" y="2377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62856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increased failures is not enough — the system must understand the likely root cause.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575304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764792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377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actions can create additional risk when executed blindly.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1741932" cy="566928"/>
          </a:xfrm>
          <a:prstGeom prst="roundRect">
            <a:avLst>
              <a:gd name="adj" fmla="val 12903"/>
            </a:avLst>
          </a:prstGeom>
          <a:solidFill>
            <a:srgbClr val="EFF1F4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94760"/>
            <a:ext cx="17419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17420" y="4078224"/>
            <a:ext cx="128016" cy="0"/>
          </a:xfrm>
          <a:prstGeom prst="line">
            <a:avLst/>
          </a:prstGeom>
          <a:noFill/>
          <a:ln w="15875">
            <a:solidFill>
              <a:srgbClr val="B7BC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363724" y="3794760"/>
            <a:ext cx="1741932" cy="566928"/>
          </a:xfrm>
          <a:prstGeom prst="roundRect">
            <a:avLst>
              <a:gd name="adj" fmla="val 12903"/>
            </a:avLst>
          </a:prstGeom>
          <a:solidFill>
            <a:srgbClr val="EFF1F4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63724" y="3794760"/>
            <a:ext cx="17419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23944" y="4078224"/>
            <a:ext cx="128016" cy="0"/>
          </a:xfrm>
          <a:prstGeom prst="line">
            <a:avLst/>
          </a:prstGeom>
          <a:noFill/>
          <a:ln w="15875">
            <a:solidFill>
              <a:srgbClr val="B7BCC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270248" y="3794760"/>
            <a:ext cx="1741932" cy="566928"/>
          </a:xfrm>
          <a:prstGeom prst="roundRect">
            <a:avLst>
              <a:gd name="adj" fmla="val 12903"/>
            </a:avLst>
          </a:prstGeom>
          <a:solidFill>
            <a:srgbClr val="EFF1F4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0248" y="3794760"/>
            <a:ext cx="17419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0468" y="4078224"/>
            <a:ext cx="128016" cy="0"/>
          </a:xfrm>
          <a:prstGeom prst="line">
            <a:avLst/>
          </a:prstGeom>
          <a:noFill/>
          <a:ln w="15875">
            <a:solidFill>
              <a:srgbClr val="B7BCC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176772" y="3794760"/>
            <a:ext cx="1741932" cy="566928"/>
          </a:xfrm>
          <a:prstGeom prst="roundRect">
            <a:avLst>
              <a:gd name="adj" fmla="val 12903"/>
            </a:avLst>
          </a:prstGeom>
          <a:solidFill>
            <a:srgbClr val="EFF1F4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6772" y="3794760"/>
            <a:ext cx="17419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Decision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36992" y="4078224"/>
            <a:ext cx="128016" cy="0"/>
          </a:xfrm>
          <a:prstGeom prst="line">
            <a:avLst/>
          </a:prstGeom>
          <a:noFill/>
          <a:ln w="15875">
            <a:solidFill>
              <a:srgbClr val="B7BCC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083296" y="3794760"/>
            <a:ext cx="1741932" cy="566928"/>
          </a:xfrm>
          <a:prstGeom prst="roundRect">
            <a:avLst>
              <a:gd name="adj" fmla="val 12903"/>
            </a:avLst>
          </a:prstGeom>
          <a:solidFill>
            <a:srgbClr val="F2A93B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83296" y="3794760"/>
            <a:ext cx="17419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3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843516" y="4078224"/>
            <a:ext cx="128016" cy="0"/>
          </a:xfrm>
          <a:prstGeom prst="line">
            <a:avLst/>
          </a:prstGeom>
          <a:noFill/>
          <a:ln w="15875">
            <a:solidFill>
              <a:srgbClr val="B7BCC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989820" y="3794760"/>
            <a:ext cx="1741932" cy="566928"/>
          </a:xfrm>
          <a:prstGeom prst="roundRect">
            <a:avLst>
              <a:gd name="adj" fmla="val 12903"/>
            </a:avLst>
          </a:prstGeom>
          <a:solidFill>
            <a:srgbClr val="EFF1F4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89820" y="3794760"/>
            <a:ext cx="17419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7091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12181F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709160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failure detection → root cause → measurable recovery, while maintaining financial and operational safety.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Payment Failure to Controlled Recovery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71448" cy="502920"/>
          </a:xfrm>
          <a:prstGeom prst="roundRect">
            <a:avLst>
              <a:gd name="adj" fmla="val 14545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117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2364" y="1577340"/>
            <a:ext cx="64008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720088" y="1325880"/>
            <a:ext cx="1171448" cy="502920"/>
          </a:xfrm>
          <a:prstGeom prst="roundRect">
            <a:avLst>
              <a:gd name="adj" fmla="val 14545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20088" y="1325880"/>
            <a:ext cx="117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05252" y="1577340"/>
            <a:ext cx="64008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82976" y="1325880"/>
            <a:ext cx="1171448" cy="502920"/>
          </a:xfrm>
          <a:prstGeom prst="roundRect">
            <a:avLst>
              <a:gd name="adj" fmla="val 14545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82976" y="1325880"/>
            <a:ext cx="117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8140" y="1577340"/>
            <a:ext cx="64008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45864" y="1325880"/>
            <a:ext cx="1171448" cy="502920"/>
          </a:xfrm>
          <a:prstGeom prst="roundRect">
            <a:avLst>
              <a:gd name="adj" fmla="val 14545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5864" y="1325880"/>
            <a:ext cx="117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31028" y="1577340"/>
            <a:ext cx="64008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08752" y="1325880"/>
            <a:ext cx="1171448" cy="502920"/>
          </a:xfrm>
          <a:prstGeom prst="roundRect">
            <a:avLst>
              <a:gd name="adj" fmla="val 14545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8752" y="1325880"/>
            <a:ext cx="117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STRATEGIZE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93916" y="1577340"/>
            <a:ext cx="64008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71640" y="1325880"/>
            <a:ext cx="1171448" cy="502920"/>
          </a:xfrm>
          <a:prstGeom prst="roundRect">
            <a:avLst>
              <a:gd name="adj" fmla="val 14545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71640" y="1325880"/>
            <a:ext cx="117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56804" y="1577340"/>
            <a:ext cx="64008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034528" y="1325880"/>
            <a:ext cx="1171448" cy="502920"/>
          </a:xfrm>
          <a:prstGeom prst="roundRect">
            <a:avLst>
              <a:gd name="adj" fmla="val 14545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34528" y="1325880"/>
            <a:ext cx="117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219692" y="1577340"/>
            <a:ext cx="64008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297416" y="1325880"/>
            <a:ext cx="1171448" cy="502920"/>
          </a:xfrm>
          <a:prstGeom prst="roundRect">
            <a:avLst>
              <a:gd name="adj" fmla="val 14545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97416" y="1325880"/>
            <a:ext cx="117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482580" y="1577340"/>
            <a:ext cx="64008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560304" y="1325880"/>
            <a:ext cx="1171448" cy="502920"/>
          </a:xfrm>
          <a:prstGeom prst="roundRect">
            <a:avLst>
              <a:gd name="adj" fmla="val 14545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60304" y="1325880"/>
            <a:ext cx="117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2148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DIAGNOSIS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214884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→ PROOF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246888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2560320"/>
            <a:ext cx="274320" cy="274320"/>
          </a:xfrm>
          <a:prstGeom prst="ellipse">
            <a:avLst/>
          </a:prstGeom>
          <a:solidFill>
            <a:srgbClr val="0A3B33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012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payment traffic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301752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3108960"/>
            <a:ext cx="274320" cy="274320"/>
          </a:xfrm>
          <a:prstGeom prst="ellipse">
            <a:avLst/>
          </a:prstGeom>
          <a:solidFill>
            <a:srgbClr val="0A3B33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012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356616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" y="3657600"/>
            <a:ext cx="274320" cy="274320"/>
          </a:xfrm>
          <a:prstGeom prst="ellipse">
            <a:avLst/>
          </a:prstGeom>
          <a:solidFill>
            <a:srgbClr val="0A3B33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012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incident detection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57200" y="411480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928" y="4206240"/>
            <a:ext cx="274320" cy="274320"/>
          </a:xfrm>
          <a:prstGeom prst="ellipse">
            <a:avLst/>
          </a:prstGeom>
          <a:solidFill>
            <a:srgbClr val="0A3B33"/>
          </a:solidFill>
          <a:ln/>
        </p:spPr>
      </p:sp>
      <p:sp>
        <p:nvSpPr>
          <p:cNvPr id="46" name="Text 44"/>
          <p:cNvSpPr/>
          <p:nvPr/>
        </p:nvSpPr>
        <p:spPr>
          <a:xfrm>
            <a:off x="566928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6012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Revenue-at-risk engine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57200" y="466344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6928" y="4754880"/>
            <a:ext cx="274320" cy="274320"/>
          </a:xfrm>
          <a:prstGeom prst="ellipse">
            <a:avLst/>
          </a:prstGeom>
          <a:solidFill>
            <a:srgbClr val="0A3B33"/>
          </a:solidFill>
          <a:ln/>
        </p:spPr>
      </p:sp>
      <p:sp>
        <p:nvSpPr>
          <p:cNvPr id="50" name="Text 48"/>
          <p:cNvSpPr/>
          <p:nvPr/>
        </p:nvSpPr>
        <p:spPr>
          <a:xfrm>
            <a:off x="566928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60120" y="4663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336792" y="246888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46520" y="2560320"/>
            <a:ext cx="274320" cy="274320"/>
          </a:xfrm>
          <a:prstGeom prst="ellipse">
            <a:avLst/>
          </a:prstGeom>
          <a:solidFill>
            <a:srgbClr val="0A3B33"/>
          </a:solidFill>
          <a:ln/>
        </p:spPr>
      </p:sp>
      <p:sp>
        <p:nvSpPr>
          <p:cNvPr id="54" name="Text 52"/>
          <p:cNvSpPr/>
          <p:nvPr/>
        </p:nvSpPr>
        <p:spPr>
          <a:xfrm>
            <a:off x="644652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39712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strategy engine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336792" y="301752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46520" y="3108960"/>
            <a:ext cx="274320" cy="274320"/>
          </a:xfrm>
          <a:prstGeom prst="ellipse">
            <a:avLst/>
          </a:prstGeom>
          <a:solidFill>
            <a:srgbClr val="0A3B33"/>
          </a:solidFill>
          <a:ln/>
        </p:spPr>
      </p:sp>
      <p:sp>
        <p:nvSpPr>
          <p:cNvPr id="58" name="Text 56"/>
          <p:cNvSpPr/>
          <p:nvPr/>
        </p:nvSpPr>
        <p:spPr>
          <a:xfrm>
            <a:off x="644652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839712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 / guardrail engine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336792" y="356616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46520" y="3657600"/>
            <a:ext cx="274320" cy="274320"/>
          </a:xfrm>
          <a:prstGeom prst="ellipse">
            <a:avLst/>
          </a:prstGeom>
          <a:solidFill>
            <a:srgbClr val="0A3B33"/>
          </a:solidFill>
          <a:ln/>
        </p:spPr>
      </p:sp>
      <p:sp>
        <p:nvSpPr>
          <p:cNvPr id="62" name="Text 60"/>
          <p:cNvSpPr/>
          <p:nvPr/>
        </p:nvSpPr>
        <p:spPr>
          <a:xfrm>
            <a:off x="644652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839712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execution simulator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6336792" y="411480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46520" y="4206240"/>
            <a:ext cx="274320" cy="274320"/>
          </a:xfrm>
          <a:prstGeom prst="ellipse">
            <a:avLst/>
          </a:prstGeom>
          <a:solidFill>
            <a:srgbClr val="0A3B33"/>
          </a:solidFill>
          <a:ln/>
        </p:spPr>
      </p:sp>
      <p:sp>
        <p:nvSpPr>
          <p:cNvPr id="66" name="Text 64"/>
          <p:cNvSpPr/>
          <p:nvPr/>
        </p:nvSpPr>
        <p:spPr>
          <a:xfrm>
            <a:off x="644652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839712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+ evaluation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6336792" y="466344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46520" y="4754880"/>
            <a:ext cx="274320" cy="274320"/>
          </a:xfrm>
          <a:prstGeom prst="ellipse">
            <a:avLst/>
          </a:prstGeom>
          <a:solidFill>
            <a:srgbClr val="0A3B33"/>
          </a:solidFill>
          <a:ln/>
        </p:spPr>
      </p:sp>
      <p:sp>
        <p:nvSpPr>
          <p:cNvPr id="70" name="Text 68"/>
          <p:cNvSpPr/>
          <p:nvPr/>
        </p:nvSpPr>
        <p:spPr>
          <a:xfrm>
            <a:off x="644652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839712" y="4663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457200" y="553212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3D2E10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55321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 →  Policy decides  →  Execution obeys  →  Audit proves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Financial Guardrails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0" cy="2034540"/>
          </a:xfrm>
          <a:prstGeom prst="roundRect">
            <a:avLst>
              <a:gd name="adj" fmla="val 3596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00D9B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542032"/>
            <a:ext cx="26517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analysis using incident evidence and competing root-cause hypotheses.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371600"/>
            <a:ext cx="3108960" cy="2034540"/>
          </a:xfrm>
          <a:prstGeom prst="roundRect">
            <a:avLst>
              <a:gd name="adj" fmla="val 3596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16002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069080" y="2542032"/>
            <a:ext cx="26517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rules bound recovery using risk, confidence, financial, retry and freshness constraints.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80460"/>
            <a:ext cx="3108960" cy="2034540"/>
          </a:xfrm>
          <a:prstGeom prst="roundRect">
            <a:avLst>
              <a:gd name="adj" fmla="val 3596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909060"/>
            <a:ext cx="457200" cy="457200"/>
          </a:xfrm>
          <a:prstGeom prst="ellipse">
            <a:avLst/>
          </a:prstGeom>
          <a:solidFill>
            <a:srgbClr val="00D9B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5034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Recovery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85800" y="4850892"/>
            <a:ext cx="26517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simulation respects retry limits, stopping conditions, circuit breakers and idempotency.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3680460"/>
            <a:ext cx="3108960" cy="2034540"/>
          </a:xfrm>
          <a:prstGeom prst="roundRect">
            <a:avLst>
              <a:gd name="adj" fmla="val 3596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69080" y="3909060"/>
            <a:ext cx="457200" cy="457200"/>
          </a:xfrm>
          <a:prstGeom prst="ellipse">
            <a:avLst/>
          </a:prstGeom>
          <a:solidFill>
            <a:srgbClr val="8B96A8"/>
          </a:solidFill>
          <a:ln/>
        </p:spPr>
      </p:sp>
      <p:sp>
        <p:nvSpPr>
          <p:cNvPr id="21" name="Text 19"/>
          <p:cNvSpPr/>
          <p:nvPr/>
        </p:nvSpPr>
        <p:spPr>
          <a:xfrm>
            <a:off x="4069080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9080" y="45034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069080" y="4850892"/>
            <a:ext cx="26517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decisions are persisted and protected through a SHA-256 audit hash chain.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4173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A3B33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09760" y="1874520"/>
            <a:ext cx="0" cy="27432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138160" y="21488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2A93B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 flipH="1">
            <a:off x="7909560" y="2651760"/>
            <a:ext cx="1600200" cy="41148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09760" y="2651760"/>
            <a:ext cx="1600200" cy="41148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69480" y="306324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0A3B33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3063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469880" y="306324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3A241F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69880" y="3063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469880" y="34930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/ halt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909560" y="3474720"/>
            <a:ext cx="1600200" cy="41148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138160" y="38862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A3B33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509760" y="4343400"/>
            <a:ext cx="0" cy="27432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13816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594360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0F141C"/>
          </a:solidFill>
          <a:ln w="12700">
            <a:solidFill>
              <a:srgbClr val="00D9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advisory. Financial safety remains deterministic.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Revenue Recovery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93976" cy="1234440"/>
          </a:xfrm>
          <a:prstGeom prst="roundRect">
            <a:avLst>
              <a:gd name="adj" fmla="val 5926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35608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91.51 / 100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" y="210312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SCORE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52344" y="1325880"/>
            <a:ext cx="2093976" cy="1234440"/>
          </a:xfrm>
          <a:prstGeom prst="roundRect">
            <a:avLst>
              <a:gd name="adj" fmla="val 5926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43784" y="1435608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₹1,47,350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25496" y="210312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47488" y="1325880"/>
            <a:ext cx="2093976" cy="1234440"/>
          </a:xfrm>
          <a:prstGeom prst="roundRect">
            <a:avLst>
              <a:gd name="adj" fmla="val 5926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435608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₹1,12,350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20640" y="210312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REVENUE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42632" y="1325880"/>
            <a:ext cx="2093976" cy="1234440"/>
          </a:xfrm>
          <a:prstGeom prst="roundRect">
            <a:avLst>
              <a:gd name="adj" fmla="val 5926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4072" y="1435608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₹77,350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15784" y="210312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RECOVERED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37776" y="1325880"/>
            <a:ext cx="2093976" cy="1234440"/>
          </a:xfrm>
          <a:prstGeom prst="roundRect">
            <a:avLst>
              <a:gd name="adj" fmla="val 5926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9216" y="1435608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₹55,250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710928" y="210312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RETRY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761488"/>
            <a:ext cx="2093976" cy="1234440"/>
          </a:xfrm>
          <a:prstGeom prst="roundRect">
            <a:avLst>
              <a:gd name="adj" fmla="val 5926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871216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+40.0%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0352" y="353872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VS NAIVE RETRY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52344" y="2761488"/>
            <a:ext cx="2093976" cy="1234440"/>
          </a:xfrm>
          <a:prstGeom prst="roundRect">
            <a:avLst>
              <a:gd name="adj" fmla="val 5926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43784" y="2871216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825496" y="353872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47488" y="2761488"/>
            <a:ext cx="2093976" cy="1234440"/>
          </a:xfrm>
          <a:prstGeom prst="roundRect">
            <a:avLst>
              <a:gd name="adj" fmla="val 5926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8928" y="2871216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120640" y="353872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ACCURACY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42632" y="2761488"/>
            <a:ext cx="2093976" cy="1234440"/>
          </a:xfrm>
          <a:prstGeom prst="roundRect">
            <a:avLst>
              <a:gd name="adj" fmla="val 5926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34072" y="2871216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15784" y="353872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COMPLIANCE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637776" y="2761488"/>
            <a:ext cx="2093976" cy="1234440"/>
          </a:xfrm>
          <a:prstGeom prst="roundRect">
            <a:avLst>
              <a:gd name="adj" fmla="val 5926"/>
            </a:avLst>
          </a:prstGeom>
          <a:solidFill>
            <a:srgbClr val="121822"/>
          </a:solidFill>
          <a:ln w="9525">
            <a:solidFill>
              <a:srgbClr val="232C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29216" y="2871216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710928" y="353872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INTEGRITY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9776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deterministic benchmark  •  Seed 42  •  EVAL_V1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434840"/>
            <a:ext cx="11274552" cy="1600200"/>
          </a:xfrm>
          <a:prstGeom prst="roundRect">
            <a:avLst>
              <a:gd name="adj" fmla="val 5714"/>
            </a:avLst>
          </a:prstGeom>
          <a:solidFill>
            <a:srgbClr val="0F141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INVARIANT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Recovered Revenue  ≤  Authoritative Recoverable Revenue  ≤  Revenue at Risk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₹77,350  ≤  ₹1,12,350  ≤  ₹1,91,700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/ simulation results — not production figures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Revenue. Safely. Prove It.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1562100" cy="594360"/>
          </a:xfrm>
          <a:prstGeom prst="roundRect">
            <a:avLst>
              <a:gd name="adj" fmla="val 12308"/>
            </a:avLst>
          </a:prstGeom>
          <a:solidFill>
            <a:srgbClr val="121822"/>
          </a:solidFill>
          <a:ln w="9525">
            <a:solidFill>
              <a:srgbClr val="00D9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514600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12492" y="2811780"/>
            <a:ext cx="173736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13660" y="2514600"/>
            <a:ext cx="1562100" cy="594360"/>
          </a:xfrm>
          <a:prstGeom prst="roundRect">
            <a:avLst>
              <a:gd name="adj" fmla="val 12308"/>
            </a:avLst>
          </a:prstGeom>
          <a:solidFill>
            <a:srgbClr val="121822"/>
          </a:solidFill>
          <a:ln w="9525">
            <a:solidFill>
              <a:srgbClr val="00D9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3660" y="2514600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03192" y="2811780"/>
            <a:ext cx="173736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04360" y="2514600"/>
            <a:ext cx="1562100" cy="594360"/>
          </a:xfrm>
          <a:prstGeom prst="roundRect">
            <a:avLst>
              <a:gd name="adj" fmla="val 12308"/>
            </a:avLst>
          </a:prstGeom>
          <a:solidFill>
            <a:srgbClr val="121822"/>
          </a:solidFill>
          <a:ln w="9525">
            <a:solidFill>
              <a:srgbClr val="00D9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4360" y="2514600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93892" y="2811780"/>
            <a:ext cx="173736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95060" y="2514600"/>
            <a:ext cx="1562100" cy="594360"/>
          </a:xfrm>
          <a:prstGeom prst="roundRect">
            <a:avLst>
              <a:gd name="adj" fmla="val 12308"/>
            </a:avLst>
          </a:prstGeom>
          <a:solidFill>
            <a:srgbClr val="121822"/>
          </a:solidFill>
          <a:ln w="9525">
            <a:solidFill>
              <a:srgbClr val="00D9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5060" y="2514600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84592" y="2811780"/>
            <a:ext cx="173736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85760" y="2514600"/>
            <a:ext cx="1562100" cy="594360"/>
          </a:xfrm>
          <a:prstGeom prst="roundRect">
            <a:avLst>
              <a:gd name="adj" fmla="val 12308"/>
            </a:avLst>
          </a:prstGeom>
          <a:solidFill>
            <a:srgbClr val="121822"/>
          </a:solidFill>
          <a:ln w="9525">
            <a:solidFill>
              <a:srgbClr val="00D9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85760" y="2514600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75292" y="2811780"/>
            <a:ext cx="173736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76460" y="2514600"/>
            <a:ext cx="1562100" cy="594360"/>
          </a:xfrm>
          <a:prstGeom prst="roundRect">
            <a:avLst>
              <a:gd name="adj" fmla="val 12308"/>
            </a:avLst>
          </a:prstGeom>
          <a:solidFill>
            <a:srgbClr val="121822"/>
          </a:solidFill>
          <a:ln w="9525">
            <a:solidFill>
              <a:srgbClr val="00D9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76460" y="2514600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Sentinel turns payment degradation into a measurable, controlled revenue-recovery workflow.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438912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3D2E10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3891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proposes.   Policy decides.   Execution obeys.   Audit proves.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Sentinel  •  AI Revenue Recovery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2026-09-05T08:04:32Z</dcterms:created>
  <dcterms:modified xsi:type="dcterms:W3CDTF">2026-09-05T08:04:32Z</dcterms:modified>
</cp:coreProperties>
</file>